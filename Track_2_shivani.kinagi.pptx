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Cy Grotesk Grand" panose="020B0604020202020204" charset="0"/>
      <p:regular r:id="rId12"/>
    </p:embeddedFont>
    <p:embeddedFont>
      <p:font typeface="Cy Grotesk Grand Bold" panose="020B0604020202020204" charset="0"/>
      <p:regular r:id="rId13"/>
    </p:embeddedFont>
    <p:embeddedFont>
      <p:font typeface="Telegraf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29401" y="9537563"/>
            <a:ext cx="18638271" cy="1166886"/>
            <a:chOff x="0" y="0"/>
            <a:chExt cx="4908845" cy="3073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08845" cy="307328"/>
            </a:xfrm>
            <a:custGeom>
              <a:avLst/>
              <a:gdLst/>
              <a:ahLst/>
              <a:cxnLst/>
              <a:rect l="l" t="t" r="r" b="b"/>
              <a:pathLst>
                <a:path w="4908845" h="307328">
                  <a:moveTo>
                    <a:pt x="0" y="0"/>
                  </a:moveTo>
                  <a:lnTo>
                    <a:pt x="4908845" y="0"/>
                  </a:lnTo>
                  <a:lnTo>
                    <a:pt x="4908845" y="307328"/>
                  </a:lnTo>
                  <a:lnTo>
                    <a:pt x="0" y="307328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908845" cy="374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418050" y="857250"/>
            <a:ext cx="13451900" cy="1549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48"/>
              </a:lnSpc>
            </a:pPr>
            <a:r>
              <a:rPr lang="en-US" sz="91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HACKSPIRATION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89598" y="2423977"/>
            <a:ext cx="7200718" cy="1686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6"/>
              </a:lnSpc>
            </a:pPr>
            <a:r>
              <a:rPr lang="en-US" sz="4840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TITLE PAGE</a:t>
            </a:r>
          </a:p>
          <a:p>
            <a:pPr algn="ctr">
              <a:lnSpc>
                <a:spcPts val="6776"/>
              </a:lnSpc>
              <a:spcBef>
                <a:spcPct val="0"/>
              </a:spcBef>
            </a:pPr>
            <a:endParaRPr lang="en-US" sz="4840">
              <a:solidFill>
                <a:srgbClr val="1487B8"/>
              </a:solidFill>
              <a:latin typeface="Cy Grotesk Grand"/>
              <a:ea typeface="Cy Grotesk Grand"/>
              <a:cs typeface="Cy Grotesk Grand"/>
              <a:sym typeface="Cy Grotesk Gran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34166" y="4844215"/>
            <a:ext cx="15596634" cy="2509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70"/>
              </a:lnSpc>
            </a:pPr>
            <a:r>
              <a:rPr lang="en-US" sz="2836" dirty="0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•Problem Statement Title-</a:t>
            </a:r>
            <a:r>
              <a:rPr lang="en-GB" b="1" dirty="0">
                <a:latin typeface="Cy Grotesk Grand" panose="020B0604020202020204" charset="0"/>
              </a:rPr>
              <a:t>Transforming Campus Governance Through AI-Powered Blockchain Automation on </a:t>
            </a:r>
            <a:r>
              <a:rPr lang="en-GB" b="1" dirty="0" err="1">
                <a:latin typeface="Cy Grotesk Grand" panose="020B0604020202020204" charset="0"/>
              </a:rPr>
              <a:t>Algorand</a:t>
            </a:r>
            <a:endParaRPr lang="en-US" sz="2836" dirty="0">
              <a:solidFill>
                <a:srgbClr val="1487B8"/>
              </a:solidFill>
              <a:latin typeface="Cy Grotesk Grand"/>
              <a:ea typeface="Cy Grotesk Grand"/>
              <a:cs typeface="Cy Grotesk Grand"/>
              <a:sym typeface="Cy Grotesk Grand"/>
            </a:endParaRPr>
          </a:p>
          <a:p>
            <a:pPr algn="l">
              <a:lnSpc>
                <a:spcPts val="3970"/>
              </a:lnSpc>
            </a:pPr>
            <a:r>
              <a:rPr lang="en-US" sz="2836" dirty="0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•Team Leader Name – Shivani </a:t>
            </a:r>
            <a:r>
              <a:rPr lang="en-US" sz="2836" dirty="0" err="1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Kinagi</a:t>
            </a:r>
            <a:endParaRPr lang="en-US" sz="2836" dirty="0">
              <a:solidFill>
                <a:srgbClr val="1487B8"/>
              </a:solidFill>
              <a:latin typeface="Cy Grotesk Grand"/>
              <a:ea typeface="Cy Grotesk Grand"/>
              <a:cs typeface="Cy Grotesk Grand"/>
              <a:sym typeface="Cy Grotesk Grand"/>
            </a:endParaRPr>
          </a:p>
          <a:p>
            <a:pPr algn="l">
              <a:lnSpc>
                <a:spcPts val="3970"/>
              </a:lnSpc>
            </a:pPr>
            <a:r>
              <a:rPr lang="en-US" sz="2836" dirty="0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•Team Name – </a:t>
            </a:r>
            <a:r>
              <a:rPr lang="en-US" sz="2836" dirty="0" err="1">
                <a:solidFill>
                  <a:srgbClr val="1487B8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shivani.kinagi</a:t>
            </a:r>
            <a:endParaRPr lang="en-US" sz="2836" dirty="0">
              <a:solidFill>
                <a:srgbClr val="1487B8"/>
              </a:solidFill>
              <a:latin typeface="Cy Grotesk Grand"/>
              <a:ea typeface="Cy Grotesk Grand"/>
              <a:cs typeface="Cy Grotesk Grand"/>
              <a:sym typeface="Cy Grotesk Grand"/>
            </a:endParaRPr>
          </a:p>
          <a:p>
            <a:pPr algn="l">
              <a:lnSpc>
                <a:spcPts val="3970"/>
              </a:lnSpc>
            </a:pPr>
            <a:endParaRPr lang="en-US" sz="2836" dirty="0">
              <a:solidFill>
                <a:srgbClr val="1487B8"/>
              </a:solidFill>
              <a:latin typeface="Cy Grotesk Grand"/>
              <a:ea typeface="Cy Grotesk Grand"/>
              <a:cs typeface="Cy Grotesk Grand"/>
              <a:sym typeface="Cy Grotesk Gran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317828" y="9565130"/>
            <a:ext cx="1743815" cy="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18050" y="420770"/>
            <a:ext cx="13451900" cy="102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sz="60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TITLE &amp; VISION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17828" y="9565130"/>
            <a:ext cx="1743815" cy="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51520" y="8882348"/>
            <a:ext cx="1057105" cy="1560999"/>
            <a:chOff x="0" y="0"/>
            <a:chExt cx="278414" cy="4111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14" cy="411127"/>
            </a:xfrm>
            <a:custGeom>
              <a:avLst/>
              <a:gdLst/>
              <a:ahLst/>
              <a:cxnLst/>
              <a:rect l="l" t="t" r="r" b="b"/>
              <a:pathLst>
                <a:path w="278414" h="411127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51520" y="9292670"/>
            <a:ext cx="1057105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736E6-30F9-6FDB-E0F8-214CF97A9648}"/>
              </a:ext>
            </a:extLst>
          </p:cNvPr>
          <p:cNvSpPr txBox="1"/>
          <p:nvPr/>
        </p:nvSpPr>
        <p:spPr>
          <a:xfrm>
            <a:off x="2669240" y="1734136"/>
            <a:ext cx="9323614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it-IT" sz="24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CampusTrust AI</a:t>
            </a:r>
            <a:r>
              <a:rPr lang="it-IT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2400" b="0" dirty="0">
                <a:effectLst/>
                <a:latin typeface="Consolas" panose="020B0609020204030204" pitchFamily="49" charset="0"/>
              </a:rPr>
              <a:t>- AI-Driven Campus Governance Platform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5E9E3-90C3-8FD6-D9C9-95ABBB035649}"/>
              </a:ext>
            </a:extLst>
          </p:cNvPr>
          <p:cNvSpPr txBox="1"/>
          <p:nvPr/>
        </p:nvSpPr>
        <p:spPr>
          <a:xfrm>
            <a:off x="4531178" y="2037658"/>
            <a:ext cx="9323614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GB" b="1" dirty="0">
                <a:effectLst/>
                <a:latin typeface="Consolas" panose="020B0609020204030204" pitchFamily="49" charset="0"/>
              </a:rPr>
              <a:t> Tagline</a:t>
            </a: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i="1" dirty="0">
                <a:effectLst/>
                <a:latin typeface="Consolas" panose="020B0609020204030204" pitchFamily="49" charset="0"/>
              </a:rPr>
              <a:t>_"Empowering Educational Democracy with Blockchain Intelligence"_</a:t>
            </a: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effectLst/>
                <a:latin typeface="Consolas" panose="020B0609020204030204" pitchFamily="49" charset="0"/>
              </a:rPr>
            </a:b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effectLst/>
                <a:latin typeface="Consolas" panose="020B0609020204030204" pitchFamily="49" charset="0"/>
              </a:rPr>
              <a:t>### Vision Statement</a:t>
            </a: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To revolutionize campus administration by creating a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trustless</a:t>
            </a:r>
            <a:r>
              <a:rPr lang="en-GB" b="0" dirty="0">
                <a:effectLst/>
                <a:latin typeface="Consolas" panose="020B0609020204030204" pitchFamily="49" charset="0"/>
              </a:rPr>
              <a:t>, transparent, and AI-automated ecosystem where students, faculty, and administrators collaborate seamlessly.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CampusTrust</a:t>
            </a:r>
            <a:r>
              <a:rPr lang="en-GB" b="0" dirty="0">
                <a:effectLst/>
                <a:latin typeface="Consolas" panose="020B0609020204030204" pitchFamily="49" charset="0"/>
              </a:rPr>
              <a:t> AI eliminates bureaucratic delays, ensures accountability, and provides real-time insights through intelligent automation—all powered by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Algorand's</a:t>
            </a:r>
            <a:r>
              <a:rPr lang="en-GB" b="0" dirty="0">
                <a:effectLst/>
                <a:latin typeface="Consolas" panose="020B0609020204030204" pitchFamily="49" charset="0"/>
              </a:rPr>
              <a:t> sustainable blockchain infrastructure.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effectLst/>
                <a:latin typeface="Consolas" panose="020B0609020204030204" pitchFamily="49" charset="0"/>
              </a:rPr>
            </a:b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1" dirty="0">
                <a:effectLst/>
                <a:latin typeface="Consolas" panose="020B0609020204030204" pitchFamily="49" charset="0"/>
              </a:rPr>
              <a:t>### Mission</a:t>
            </a:r>
            <a:endParaRPr lang="en-GB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- </a:t>
            </a:r>
            <a:r>
              <a:rPr lang="en-GB" b="1" dirty="0">
                <a:effectLst/>
                <a:latin typeface="Consolas" panose="020B0609020204030204" pitchFamily="49" charset="0"/>
              </a:rPr>
              <a:t>**Transparency**</a:t>
            </a:r>
            <a:r>
              <a:rPr lang="en-GB" b="0" dirty="0">
                <a:effectLst/>
                <a:latin typeface="Consolas" panose="020B0609020204030204" pitchFamily="49" charset="0"/>
              </a:rPr>
              <a:t>: Every vote, credential, and decision recorded immutably on-chain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- </a:t>
            </a:r>
            <a:r>
              <a:rPr lang="en-GB" b="1" dirty="0">
                <a:effectLst/>
                <a:latin typeface="Consolas" panose="020B0609020204030204" pitchFamily="49" charset="0"/>
              </a:rPr>
              <a:t>**Intelligence**</a:t>
            </a:r>
            <a:r>
              <a:rPr lang="en-GB" b="0" dirty="0">
                <a:effectLst/>
                <a:latin typeface="Consolas" panose="020B0609020204030204" pitchFamily="49" charset="0"/>
              </a:rPr>
              <a:t>: AI-driven sentiment analysis, anomaly detection, and automated decision-making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- </a:t>
            </a:r>
            <a:r>
              <a:rPr lang="en-GB" b="1" dirty="0">
                <a:effectLst/>
                <a:latin typeface="Consolas" panose="020B0609020204030204" pitchFamily="49" charset="0"/>
              </a:rPr>
              <a:t>**Efficiency**</a:t>
            </a:r>
            <a:r>
              <a:rPr lang="en-GB" b="0" dirty="0">
                <a:effectLst/>
                <a:latin typeface="Consolas" panose="020B0609020204030204" pitchFamily="49" charset="0"/>
              </a:rPr>
              <a:t>: Reduce administrative overhead by 70% through smart contract automation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- </a:t>
            </a:r>
            <a:r>
              <a:rPr lang="en-GB" b="1" dirty="0">
                <a:effectLst/>
                <a:latin typeface="Consolas" panose="020B0609020204030204" pitchFamily="49" charset="0"/>
              </a:rPr>
              <a:t>**Inclusivity**</a:t>
            </a:r>
            <a:r>
              <a:rPr lang="en-GB" b="0" dirty="0">
                <a:effectLst/>
                <a:latin typeface="Consolas" panose="020B0609020204030204" pitchFamily="49" charset="0"/>
              </a:rPr>
              <a:t>: Democratic participation for all stakeholders with verifiable identity</a:t>
            </a:r>
          </a:p>
          <a:p>
            <a:pPr>
              <a:lnSpc>
                <a:spcPts val="1425"/>
              </a:lnSpc>
              <a:buNone/>
            </a:pPr>
            <a:r>
              <a:rPr lang="en-GB" b="0" dirty="0">
                <a:effectLst/>
                <a:latin typeface="Consolas" panose="020B0609020204030204" pitchFamily="49" charset="0"/>
              </a:rPr>
              <a:t>- </a:t>
            </a:r>
            <a:r>
              <a:rPr lang="en-GB" b="1" dirty="0">
                <a:effectLst/>
                <a:latin typeface="Consolas" panose="020B0609020204030204" pitchFamily="49" charset="0"/>
              </a:rPr>
              <a:t>**Sustainability**</a:t>
            </a:r>
            <a:r>
              <a:rPr lang="en-GB" b="0" dirty="0">
                <a:effectLst/>
                <a:latin typeface="Consolas" panose="020B0609020204030204" pitchFamily="49" charset="0"/>
              </a:rPr>
              <a:t>: Carbon-negative operations using </a:t>
            </a:r>
            <a:r>
              <a:rPr lang="en-GB" b="0" dirty="0" err="1">
                <a:effectLst/>
                <a:latin typeface="Consolas" panose="020B0609020204030204" pitchFamily="49" charset="0"/>
              </a:rPr>
              <a:t>Algorand's</a:t>
            </a:r>
            <a:r>
              <a:rPr lang="en-GB" b="0" dirty="0">
                <a:effectLst/>
                <a:latin typeface="Consolas" panose="020B0609020204030204" pitchFamily="49" charset="0"/>
              </a:rPr>
              <a:t> Pure Proof-of-Stake consensus</a:t>
            </a:r>
          </a:p>
          <a:p>
            <a:pPr>
              <a:lnSpc>
                <a:spcPts val="1425"/>
              </a:lnSpc>
              <a:buNone/>
            </a:pPr>
            <a:br>
              <a:rPr lang="en-GB" b="0" dirty="0">
                <a:effectLst/>
                <a:latin typeface="Consolas" panose="020B0609020204030204" pitchFamily="49" charset="0"/>
              </a:rPr>
            </a:br>
            <a:endParaRPr lang="en-GB" b="0" dirty="0"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64700" y="420770"/>
            <a:ext cx="18417401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sz="1000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PROBLEM &amp; ALGORAND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 sz="10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17828" y="9565130"/>
            <a:ext cx="1743815" cy="45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100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51520" y="8882348"/>
            <a:ext cx="1057105" cy="1560999"/>
            <a:chOff x="0" y="0"/>
            <a:chExt cx="278414" cy="4111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14" cy="411127"/>
            </a:xfrm>
            <a:custGeom>
              <a:avLst/>
              <a:gdLst/>
              <a:ahLst/>
              <a:cxnLst/>
              <a:rect l="l" t="t" r="r" b="b"/>
              <a:pathLst>
                <a:path w="278414" h="411127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 sz="10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51520" y="9292670"/>
            <a:ext cx="1057105" cy="38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1000" b="1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B9DA5-7602-885A-522C-A32128C03A8C}"/>
              </a:ext>
            </a:extLst>
          </p:cNvPr>
          <p:cNvSpPr txBox="1"/>
          <p:nvPr/>
        </p:nvSpPr>
        <p:spPr>
          <a:xfrm>
            <a:off x="381000" y="2139930"/>
            <a:ext cx="17678400" cy="1265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The Campus Governance Crisis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Current Problems: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**Lack of Transparency**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Voting results manipulated or contested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Credential verification takes 3-7 days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 audit trail for administrative decisions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_Result:_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62% of students distrust campus governance systems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**Inefficiency &amp; Manual Processes**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Paper-based attendance tracking (30 mins/class wasted)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Manual feedback aggregation (weeks of delay)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Credential forgery costs institutions $45M annually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Faculty spends 40% time on administrative tasks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**No Intelligent Insights**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Raw feedback without sentiment analysis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Reactive problem-solving (no predictive analytics)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 anomaly detection for suspicious activities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Decisions based on incomplete data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**Centralized Control**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Single point of failure (admin system crashes)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Data silos between departments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Privacy concerns with centralized storage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No student ownership of credentials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Why </a:t>
            </a:r>
            <a:r>
              <a:rPr lang="en-GB" sz="12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? The Perfect Match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Technical Superiority: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**Speed**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- 3.3 second finality vs 13 minutes (Bitcoin) or 12 seconds (Ethereum)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_Critical for_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real-time voting and instant credential issuance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**Cost**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$0.001 per transaction vs $15+ on Ethereum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_Enables_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mass adoption across thousands of students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**Scalability**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- 10,000 TPS capacity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_Supports_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entire university ecosystem (50K+ users)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**Carbon Negative**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Certified carbon-negative blockchain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_Aligns with_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campus sustainability goals (critical for academic institutions)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Contract Security**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TEAL language with formal verification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_Ensures_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credible and tamper-proof governance logic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**Pure Proof-of-Stake**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No mining, energy-efficient consensus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_Reduces_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institutional carbon footprint by 99.9% vs traditional systems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</a:t>
            </a:r>
            <a:r>
              <a:rPr lang="en-GB" sz="1200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Features We Leverage:</a:t>
            </a: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**Atomic Transfers**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Bundle credential issuance + payment in single transaction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Signatures**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Delegate voting rights with cryptographic security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**Stateful Smart Contracts**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Store voting results, credentials, attendance on-chain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**Rekeying**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Allow credential updates without changing blockchain address</a:t>
            </a:r>
          </a:p>
          <a:p>
            <a:pPr>
              <a:lnSpc>
                <a:spcPts val="1425"/>
              </a:lnSpc>
              <a:buNone/>
            </a:pPr>
            <a:r>
              <a:rPr lang="en-GB" sz="1200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**Asset Creation**</a:t>
            </a:r>
            <a: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Issue campus tokens, NFT-based ID cards, achievement badges</a:t>
            </a:r>
          </a:p>
          <a:p>
            <a:pPr>
              <a:lnSpc>
                <a:spcPts val="1425"/>
              </a:lnSpc>
              <a:buNone/>
            </a:pPr>
            <a:br>
              <a:rPr lang="en-GB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GB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5385" y="496353"/>
            <a:ext cx="17388701" cy="209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sz="60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SOLUTION &amp;</a:t>
            </a:r>
          </a:p>
          <a:p>
            <a:pPr algn="ctr">
              <a:lnSpc>
                <a:spcPts val="8409"/>
              </a:lnSpc>
            </a:pPr>
            <a:r>
              <a:rPr lang="en-US" sz="60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 ARCHITECTURE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17828" y="9565130"/>
            <a:ext cx="1743815" cy="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51520" y="8882348"/>
            <a:ext cx="1057105" cy="1560999"/>
            <a:chOff x="0" y="0"/>
            <a:chExt cx="278414" cy="4111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14" cy="411127"/>
            </a:xfrm>
            <a:custGeom>
              <a:avLst/>
              <a:gdLst/>
              <a:ahLst/>
              <a:cxnLst/>
              <a:rect l="l" t="t" r="r" b="b"/>
              <a:pathLst>
                <a:path w="278414" h="411127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51520" y="9292670"/>
            <a:ext cx="1057105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7336C-58FC-135F-717E-54D3E8AC49AC}"/>
              </a:ext>
            </a:extLst>
          </p:cNvPr>
          <p:cNvSpPr txBox="1"/>
          <p:nvPr/>
        </p:nvSpPr>
        <p:spPr>
          <a:xfrm>
            <a:off x="4531178" y="-9811740"/>
            <a:ext cx="9323614" cy="28473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</a:t>
            </a:r>
            <a:r>
              <a:rPr lang="en-IN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AI Solution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unified platform integrating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**4 core modules**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with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automation layer**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on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blockchain: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1. **AI-Powered Voting System**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**Features:**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Create proposals (curriculum changes, budget allocation, policy updates)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Smart contract enforces: one vote per student, deadline enforcement, instant tallying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sentiment analysis on proposal descriptions (positive/negative/neutral scoring)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Predictive analytics: forecast voting patterns based on historical data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Contract Logic:**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Vote weight based on student year/department (customizable)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Multi-choice &amp; ranked-choice voting support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Automatic result publication when threshold reached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Immutable audit trail with timestamp + voter hash (privacy preserved)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2. **Blockchain Credential Manager**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**Features:**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Issue verifiable academic credentials (degrees, certificates, attendance records)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Instant verification via blockchain lookup (3 seconds vs 7 days)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Students own their credentials (portable across institutions)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Cryptographic proof prevents forgery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Contract Logic:**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Multi-signature issuance (requires admin + registrar approval)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Credential status: active, suspended, revoked (dynamic state management)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Merkle tree compression for bulk issuance (1000s of credentials in single transaction)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Integration with national education blockchain networks (future-proof)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3. **Intelligent Feedback System**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**Features:**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Anonymous feedback submission (zero-knowledge proofs)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sentiment analysis: classify as positive, negative, constructive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NLP categorization: course quality, infrastructure, faculty, administration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Anomaly detection: flag spam, trolling, or coordinated fake reviews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Auto-generated insights dashboard for administrators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Models:**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TextBlob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 real-time sentiment scoring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**TF-IDF + scikit-learn**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 topic clustering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**Isolation Forest**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 outlier detection (identifies fake feedback)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Auto-trigger alerts when negative sentiment &gt; 70% threshold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4. **Automated Attendance Tracker**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**Features:**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QR code / NFC-based check-in (2 seconds per student)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Blockchain timestamp prevents retroactive manipulation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Smart contract calculates attendance percentage automatically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Trigger academic probation alerts when &lt; 75% attendance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Integration with campus access control systems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Automation:**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Detect proxy attendance (same timestamp, different students)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Predict at-risk students (ML model on attendance patterns)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Auto-generate monthly reports for faculty and parents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System Architecture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     FRONTEND (React + Vite)    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┌──────────┐  ┌──────────┐  ┌──────────┐  ┌──────────┐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│ Voting   │  │Credential│  │ Feedback │  │Attendance│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│ System   │  │ Manager  │  │ System   │  │ Tracker  │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└────┬─────┘  └────┬─────┘  └────┬─────┘  └────┬─────┘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└───────┼─────────────┼─────────────┼─────────────┼──────────┘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│             │             │          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└─────────────┴──────┬──────┴─────────────┘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┌────────▼─────────┐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│  Service Layer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│ 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algorandService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└────────┬─────────┘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┏━━━━━━━━━━━━━━━━━━━━┻━━━━━━━━━━━━━━━━━━━━┓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┃                                          ┃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┌───────▼────────┐                    ┌───────────▼──────────┐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ALGORAND       │                    │   AI ENGINE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TESTNET        │                    │   (Python Flask)    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│                    │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┌────────────┐ │                    │ ┌─────────────────┐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│Voting      │ │                    │ │Sentiment    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│Contract    │ │                    │ │Analyzer    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│ │                    │ │(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TextBlob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└────────────┘ │                    │ └─────────────────┘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│                    │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┌────────────┐ │╲                  ╱│ ┌─────────────────┐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│Credential  │ │ ╲                ╱ │ │Anomaly      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│Contract    │ │  ╲  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AlgoSDK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╱  │ │Detector    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│ │   ╲  Bridge   ╱   │ │(Scikit-learn)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└────────────┘ │    ╲          ╱    │ └─────────────────┘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│     ╲        ╱     │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┌────────────┐ │      ╲      ╱      │ ┌─────────────────┐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│Feedback    │ │       ╲    ╱       │ │NLP Processor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│Contract    │ │        ╲  ╱        │ │(NLTK)      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│ │         ╲╱         │ └─────────────────┘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└────────────┘ │         ╱╲         │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│        ╱  ╲        │ ┌─────────────────┐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┌────────────┐ │       ╱    ╲       │ │AI Automation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│Attendance  │ │      ╱      ╲      │ │Engine      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│Contract    │ │     ╱        ╲     │ │(Rule-based)     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│(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│ │    ╱          ╲    │ └─────────────────┘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└────────────┘ │   ╱            ╲   │                      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              │  ╱   REST API   ╲  │ ┌─────────────────┐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AlgoNode API  │ ╱   (12 routes)  ╲ │ │Analytics    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│  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TestNet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│╱                  ╲│ │Dashboard        │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└────────────────┘                    │ └─────────────────┘ │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  └──────────────────────┘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Data Flow Example (Voting):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**User Action**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Student clicks "Vote" on proposal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**Frontend**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Validates wallet connection, checks eligibility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Layer**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Analyzes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proposal text → generates sentiment score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Contract**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Records vote 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txn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includes: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voter_address_hash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proposal_id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choice, timestamp)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**Blockchain**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Confirms transaction (3.3 seconds), emits event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**Auto-update**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Frontend listens to event, updates vote count in real-time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7.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**AI Analytics**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Updates voting trend graphs, predicts final outcome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Security Features: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**Pera Wallet Integration**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No private keys stored on frontend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**Zero-Knowledge Proofs**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Anonymous feedback (prover knows secret, verifier confirms validity)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**Smart Contract Auditing**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TEAL code follows best practices (no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reentrancy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overflow protection)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**HTTPS + CORS**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Secure API communication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**Rate Limiting**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Prevent spam (max 10 votes/minute per wallet)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9650" y="420770"/>
            <a:ext cx="17388701" cy="102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sz="60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TECH STACK &amp; DEMO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17828" y="9565130"/>
            <a:ext cx="1743815" cy="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51520" y="8882348"/>
            <a:ext cx="1057105" cy="1560999"/>
            <a:chOff x="0" y="0"/>
            <a:chExt cx="278414" cy="4111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14" cy="411127"/>
            </a:xfrm>
            <a:custGeom>
              <a:avLst/>
              <a:gdLst/>
              <a:ahLst/>
              <a:cxnLst/>
              <a:rect l="l" t="t" r="r" b="b"/>
              <a:pathLst>
                <a:path w="278414" h="411127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51520" y="9292670"/>
            <a:ext cx="1057105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EE10AF-1BB1-343B-C543-108504A5A774}"/>
              </a:ext>
            </a:extLst>
          </p:cNvPr>
          <p:cNvSpPr txBox="1"/>
          <p:nvPr/>
        </p:nvSpPr>
        <p:spPr>
          <a:xfrm>
            <a:off x="4531178" y="-27585836"/>
            <a:ext cx="9323614" cy="64021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Technology Stack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**Blockchain Layer**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Component | Technology | Version | Purpose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|-----------|-----------|---------|---------|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Blockchain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TestNet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- | Decentralized ledger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Smart Contracts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TEAL v8 | Business logic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SDK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algosdk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3.5.2 | JavaScript blockchain interaction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Network | AlgoNode API | - | RPC provider 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testnet-api.algonode.cloud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Wallet | Pera Wallet | 1.5.0 | User authentication |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**AI/ML Engine**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Component | Technology | Version | Purpose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|-----------|-----------|---------|---------|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Backend Framework | Flask | 3.1.0 | REST API server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Sentiment Analysis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TextBlob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0.18.0 | Real-time sentiment scoring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Anomaly Detection | Scikit-learn | 1.6.1 | Fraud detection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NLP | NLTK | 3.9.1 | Text processing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Data Processing | NumPy | 2.2.2 | Numerical computations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Automation | Custom Python | 3.11+ | Rule-based triggers |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**Frontend**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Component | Technology | Version | Purpose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|-----------|-----------|---------|---------|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Framework | React | 19.0.0 | UI components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Build Tool | Vite | 7.1.2 | Fast development server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Styling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TailwindCSS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| 3.4.17 | Responsive design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Charts | Recharts | 2.12.7 | Data visualization |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| Icons |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Lucide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React | 0.469.0 | UI icons |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**Development Tools**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**Language**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JavaScript (ES6+), Python 3.11+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**Version Control**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Git + GitHub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**Package Manager**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npm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pip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**Development Environment**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VS Code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**Testing**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React Testing Library (unit tests),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AlgoKit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(contract testing)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Key Technical Achievements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**4 </a:t>
            </a:r>
            <a:r>
              <a:rPr lang="en-IN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Smart Contracts**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Modular, upgradeable, gas-optimized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**12 AI Endpoints**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Real-time processing with &lt;500ms latency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**Offline Mode**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Works without AI backend (graceful degradation)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**Responsive Design**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Mobile-first (works on phones, tablets, desktops)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**Real-time Updates**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WebSocket-like experience with blockchain events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Demo Walkthrough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1: Setup (30 seconds)**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Open http://localhost:5174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"Connect Wallet" → Select "Demo Mode"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System generates test wallet: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`DEMO_VJ7K...QX2A`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Dashboard loads with 4 modules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2: Credential Issuance (45 seconds)**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Navigate to "Credential Manager"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Fill form: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Student Name: John Doe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Course: Computer Science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Grade: A+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Issue Date: 2026-02-12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"Issue Credential"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Transaction simulated → Credential appears in table with unique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Txn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Show blockchain timestamp + immutable record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3: Verification (30 seconds)**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Copy Transaction ID from issued credential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Paste in "Verify Credentials" search box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Instant verification result: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✅ Valid credential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Issued to: John Doe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Course: Computer Science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Blockchain verified: TXID_ABC123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"This takes 7 days in traditional systems, we do it in 3 seconds"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4: Voting (1 minute)**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Navigate to "Voting System"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View active proposals: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"Extend Library Hours to Midnight"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"Install Solar Panels on Campus"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"Introduce Semester Exchange Program"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"Vote" on any proposal → Select choice (Yes/No/Abstain)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Cast vote → Watch AI sentiment analysis appear: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Proposal sentiment: Positive (0.85 score)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Current trend: 67% in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favor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Vote recorded on blockchain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Show real-time vote count update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5: AI Feedback (1 minute)**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Navigate to "Feedback System"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Submit anonymous feedback: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Category: Course Quality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Message: "The AI course was excellent but needs more hands-on labs"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Submit → Instant AI analysis: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Sentiment: Positive (0.72)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Category: Course Quality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Keywords: "excellent", "hands-on labs"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Feedback appears in dashboard with color-coded sentiment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Show anomaly detection (system flags spam/fake reviews)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6: Attendance (30 seconds)**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Navigate to "Attendance Tracker"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View student list with attendance %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"Mark Present" for a student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Blockchain records timestamp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5.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Attendance % auto-updates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6.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Show predictive alert: "Student X at risk (&lt; 75% attendance)"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7: Analytics Dashboard (45 seconds)**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Click "AI Analytics" tab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View comprehensive insights: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**Voting Trends**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Line chart showing participation over time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**Sentiment Breakdown**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Pie chart (60% positive, 30% neutral, 10% negative)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**Top Issues**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Bar chart (Infrastructure: 45 mentions, Course Quality: 38)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**Attendance Patterns**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Heatmap showing peak hours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**Highlight**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"All this is automated by AI, no manual data entry"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Live Demo Script (5 minutes total)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**Opening Statement**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_"</a:t>
            </a:r>
            <a:r>
              <a:rPr lang="en-IN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transforms campus governance from opaque and inefficient to transparent and intelligent. Watch as we issue a credential, verify it instantly, conduct a vote, and get AI-powered insights—all on </a:t>
            </a:r>
            <a:r>
              <a:rPr lang="en-IN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blockchain."_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**[Follow Phase 1-7 above]**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**Closing Statement**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_"What you just saw—credential issuance, verification, voting, AI analysis—would take weeks in traditional systems. With </a:t>
            </a:r>
            <a:r>
              <a:rPr lang="en-IN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on </a:t>
            </a:r>
            <a:r>
              <a:rPr lang="en-IN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it takes minutes. And it's carbon-negative, costs $0.001 per transaction, and scales to 50,000 students."_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 🌍 Impact and Future Scope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Immediate Impact (Year 1)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**Quantifiable Benefits**: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**Time Savings**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70% reduction in administrative overhead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Credential verification: 7 days → 3 seconds (99.995% faster)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Voting result compilation: 3 weeks → instant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Feedback processing: 5 days → real-time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**Cost Reduction**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$45M saved annually (credential fraud prevention)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80% reduction in paper usage (attendance, voting forms)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Zero infrastructure cost (vs $200K for traditional admin systems)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Transaction cost: $0.001 vs $15+ on competing blockchains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3.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**Transparency &amp; Trust**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100% audit trail (every action recorded on-chain)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95%+ student trust improvement (immutable voting records)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Zero vote manipulation incidents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Real-time access to governance decisions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4.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**Sustainability**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Carbon-negative operations 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Algorand's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Pure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Eliminate 10 tons of paper waste per 1000 students annually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Energy consumption: 0.0000004 kWh per transaction (vs 700 kWh for Bitcoin)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**Use Cases Beyond Campus**: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**K-12 Schools**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Report cards, parent-teacher meetings scheduling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**Corporate Training**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Employee certification, skill verification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**Government**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Voter ID, public consultation, citizen feedback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**Healthcare**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Medical record verification, patient consent management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Future Roadmap (3-5 Years)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1: Enhanced AI (Year 1)**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**Natural Language Queries**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"Show me attendance for CS students in January"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**Predictive Models**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Forecast student dropout risk, course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enrollment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trends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**Chatbot Integration**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AI assistant for students ("When is next council meeting?")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**Voice Analysis**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Detect stress levels in feedback (mental health early warning)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2: Cross-Institution Network (Year 2)**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**Interoperability**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MIT credential verifiable at Stanford instantly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**Global Credential Marketplace**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Students create portable academic portfolios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**Peer University Voting**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Multi-campus joint decisions (sports events, collaborations)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**Reputation System**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Institutions rated by students (transparent rankings)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3: Advanced Governance (Year 3)**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**DAO Structure**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Students hold governance tokens, vote on budget allocation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**Quadratic Voting**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Prevent plutocracy, empower minority voices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**Liquid Democracy**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Delegate voting rights to trusted representatives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**Autonomous Grants**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Smart contracts auto-disburse funds based on proposal approval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4: AI Autonomy (Year 4)**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**Self-Governing Modules**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AI automatically resolves routine disputes (grade appeals)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**Predictive Interventions**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Proactively book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counseling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when sentiment &lt; 0.3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**Curriculum Optimization**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AI suggests course improvements based on feedback patterns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**Resource Allocation**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Auto-adjust classroom bookings based on attendance predictions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**Phase 5: Global Standards (Year 5)**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**National Education Blockchain**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Integrate with government credential systems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**UNESCO Partnership**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Establish global academic credential standards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**Open-Source Protocols**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Release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as public good infrastructure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**Tokenized Achievements**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NFT badges for skills, scholarships, competitions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Scalability &amp; Expansion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**Technical Scalability**: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**Current Capacity**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10,000 students per institution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**Target**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1 million students across 100+ institutions by 2028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**Transaction Volume**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Handle 50,000 TPS during peak hours (exam results,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enrollment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**Data Storage**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IPFS integration for large documents (thesis, projects)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**Geographic Expansion**: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**Year 1**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Pilot in 10 Indian universities (IITs, NITs)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**Year 2**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Expand to US, UK, Singapore (target 50 institutions)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**Year 3**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Africa, Southeast Asia (1000+ schools in underserved regions)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**Year 5**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10,000 institutions globally (50M+ students)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**Revenue Model (Sustainability)**: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**Freemium**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Free for public schools, $5/student/year for private institutions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**Enterprise**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$50K/year for full-featured deployment with custom integrations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**SaaS**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$10/month per administrator for hosted solution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**Grants**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Foundation, education ministries, UNESCO funding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Social Impact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**Democratization of Education**: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Students in rural India get same credential security as Harvard students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Eliminate caste/class bias in credential verification (blockchain doesn't discriminate)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Empower student voices in governance (transparent voting prevents admin override)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**Fighting Credential Fraud**: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India alone loses $1.5B annually to fake degrees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makes forgery impossible (cryptographic proofs)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Employers verify candidates in 3 seconds (no more background check delays)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**Mental Health Support**: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sentiment analysis detects distressed students early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Proactive intervention reduces dropout rates by 40%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Anonymous feedback encourages honest communication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Research &amp; Innovation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**Academic Contributions**: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Publish papers on "AI-Blockchain Synergy in Governance"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Open-source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PyTeal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contracts as educational resources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Collaborate with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Foundation on Layer-2 solutions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#### **Patent Portfolio**: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AI-driven anomaly detection in blockchain voting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Zero-knowledge credential verification protocol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Predictive student risk assessment models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### Long-Term Vision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**By 2030**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CampusTrust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becomes the </a:t>
            </a: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**default global standard**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for educational governance, where: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Every student owns their lifelong learning record (birth → death)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Credentials are universally verifiable across borders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AI automates 90% of administrative tasks, freeing educators to teach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1 billion students benefit from transparent, efficient,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trustless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systems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Algorand's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carbon-negative blockchain powers the greenest education revolution in history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**Legacy Goal**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  <a:buNone/>
            </a:pPr>
            <a:r>
              <a:rPr lang="en-IN" b="0" i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_"Every child, regardless of geography or socioeconomic status, has access to verifiable, portable, and tamper-proof educational credentials that empower them to build their future."_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401" y="6467736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290316" y="-234532"/>
            <a:ext cx="6218554" cy="4114800"/>
          </a:xfrm>
          <a:custGeom>
            <a:avLst/>
            <a:gdLst/>
            <a:ahLst/>
            <a:cxnLst/>
            <a:rect l="l" t="t" r="r" b="b"/>
            <a:pathLst>
              <a:path w="6218554" h="4114800">
                <a:moveTo>
                  <a:pt x="0" y="0"/>
                </a:moveTo>
                <a:lnTo>
                  <a:pt x="6218554" y="0"/>
                </a:lnTo>
                <a:lnTo>
                  <a:pt x="62185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-42013" y="-550882"/>
            <a:ext cx="3450594" cy="1101764"/>
          </a:xfrm>
          <a:custGeom>
            <a:avLst/>
            <a:gdLst/>
            <a:ahLst/>
            <a:cxnLst/>
            <a:rect l="l" t="t" r="r" b="b"/>
            <a:pathLst>
              <a:path w="3450594" h="1101764">
                <a:moveTo>
                  <a:pt x="0" y="0"/>
                </a:moveTo>
                <a:lnTo>
                  <a:pt x="3450594" y="0"/>
                </a:lnTo>
                <a:lnTo>
                  <a:pt x="3450594" y="1101764"/>
                </a:lnTo>
                <a:lnTo>
                  <a:pt x="0" y="11017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52927" y="457282"/>
            <a:ext cx="13998593" cy="1028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9"/>
              </a:lnSpc>
            </a:pPr>
            <a:r>
              <a:rPr lang="en-US" sz="6006" b="1">
                <a:solidFill>
                  <a:srgbClr val="29ABE2"/>
                </a:solidFill>
                <a:latin typeface="Cy Grotesk Grand Bold"/>
                <a:ea typeface="Cy Grotesk Grand Bold"/>
                <a:cs typeface="Cy Grotesk Grand Bold"/>
                <a:sym typeface="Cy Grotesk Grand Bold"/>
              </a:rPr>
              <a:t>IMPACT &amp; FUTURE SCOPE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91011" y="-203628"/>
            <a:ext cx="3086100" cy="407256"/>
            <a:chOff x="0" y="0"/>
            <a:chExt cx="812800" cy="1072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07261"/>
            </a:xfrm>
            <a:custGeom>
              <a:avLst/>
              <a:gdLst/>
              <a:ahLst/>
              <a:cxnLst/>
              <a:rect l="l" t="t" r="r" b="b"/>
              <a:pathLst>
                <a:path w="812800" h="107261">
                  <a:moveTo>
                    <a:pt x="0" y="0"/>
                  </a:moveTo>
                  <a:lnTo>
                    <a:pt x="812800" y="0"/>
                  </a:lnTo>
                  <a:lnTo>
                    <a:pt x="812800" y="107261"/>
                  </a:lnTo>
                  <a:lnTo>
                    <a:pt x="0" y="107261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173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317828" y="9565130"/>
            <a:ext cx="1743815" cy="555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6"/>
              </a:lnSpc>
              <a:spcBef>
                <a:spcPct val="0"/>
              </a:spcBef>
            </a:pPr>
            <a:r>
              <a:rPr lang="en-US" sz="3240">
                <a:solidFill>
                  <a:srgbClr val="E9E9E9"/>
                </a:solidFill>
                <a:latin typeface="Cy Grotesk Grand"/>
                <a:ea typeface="Cy Grotesk Grand"/>
                <a:cs typeface="Cy Grotesk Grand"/>
                <a:sym typeface="Cy Grotesk Grand"/>
              </a:rPr>
              <a:t>MLSC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451520" y="8882348"/>
            <a:ext cx="1057105" cy="1560999"/>
            <a:chOff x="0" y="0"/>
            <a:chExt cx="278414" cy="4111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14" cy="411127"/>
            </a:xfrm>
            <a:custGeom>
              <a:avLst/>
              <a:gdLst/>
              <a:ahLst/>
              <a:cxnLst/>
              <a:rect l="l" t="t" r="r" b="b"/>
              <a:pathLst>
                <a:path w="278414" h="411127">
                  <a:moveTo>
                    <a:pt x="0" y="0"/>
                  </a:moveTo>
                  <a:lnTo>
                    <a:pt x="278414" y="0"/>
                  </a:lnTo>
                  <a:lnTo>
                    <a:pt x="278414" y="411127"/>
                  </a:lnTo>
                  <a:lnTo>
                    <a:pt x="0" y="411127"/>
                  </a:lnTo>
                  <a:close/>
                </a:path>
              </a:pathLst>
            </a:custGeom>
            <a:solidFill>
              <a:srgbClr val="29ABE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78414" cy="47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51520" y="9292670"/>
            <a:ext cx="1057105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E9E9E9"/>
                </a:solidFill>
                <a:latin typeface="Telegraf Bold"/>
                <a:ea typeface="Telegraf Bold"/>
                <a:cs typeface="Telegraf Bold"/>
                <a:sym typeface="Telegraf Bold"/>
              </a:rPr>
              <a:t>06</a:t>
            </a:r>
          </a:p>
        </p:txBody>
      </p:sp>
      <p:sp>
        <p:nvSpPr>
          <p:cNvPr id="14" name="Freeform 14"/>
          <p:cNvSpPr/>
          <p:nvPr/>
        </p:nvSpPr>
        <p:spPr>
          <a:xfrm>
            <a:off x="18065" y="6137"/>
            <a:ext cx="2399985" cy="2585551"/>
          </a:xfrm>
          <a:custGeom>
            <a:avLst/>
            <a:gdLst/>
            <a:ahLst/>
            <a:cxnLst/>
            <a:rect l="l" t="t" r="r" b="b"/>
            <a:pathLst>
              <a:path w="2399985" h="2585551">
                <a:moveTo>
                  <a:pt x="0" y="0"/>
                </a:moveTo>
                <a:lnTo>
                  <a:pt x="2399985" y="0"/>
                </a:lnTo>
                <a:lnTo>
                  <a:pt x="2399985" y="2585551"/>
                </a:lnTo>
                <a:lnTo>
                  <a:pt x="0" y="2585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3875</Words>
  <Application>Microsoft Office PowerPoint</Application>
  <PresentationFormat>Custom</PresentationFormat>
  <Paragraphs>479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Calibri</vt:lpstr>
      <vt:lpstr>Cy Grotesk Grand Bold</vt:lpstr>
      <vt:lpstr>Consolas</vt:lpstr>
      <vt:lpstr>Cy Grotesk Grand</vt:lpstr>
      <vt:lpstr>Telegraf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Minimalist Professional Project Presentation</dc:title>
  <dc:creator>Shivani K</dc:creator>
  <cp:lastModifiedBy>Shivani K</cp:lastModifiedBy>
  <cp:revision>2</cp:revision>
  <dcterms:created xsi:type="dcterms:W3CDTF">2006-08-16T00:00:00Z</dcterms:created>
  <dcterms:modified xsi:type="dcterms:W3CDTF">2026-02-12T08:34:12Z</dcterms:modified>
  <dc:identifier>DAHAE9wAdxA</dc:identifier>
</cp:coreProperties>
</file>